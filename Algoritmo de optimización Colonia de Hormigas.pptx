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2000"/>
  <p:notesSz cx="6858000" cy="9144000"/>
  <p:embeddedFontLst>
    <p:embeddedFont>
      <p:font typeface="Garamon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gvBo/6C7/6m2wSJlgfjkaP/KIG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aramond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Garamond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Garamond-italic.fntdata"/><Relationship Id="rId16" Type="http://schemas.openxmlformats.org/officeDocument/2006/relationships/slide" Target="slides/slide10.xml"/><Relationship Id="rId38" Type="http://schemas.openxmlformats.org/officeDocument/2006/relationships/font" Target="fonts/Garamon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4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0"/>
              <a:buFont typeface="Garamond"/>
              <a:buNone/>
              <a:defRPr sz="8000">
                <a:solidFill>
                  <a:srgbClr val="FEFEF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" type="subTitle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17" name="Google Shape;17;p34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4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EFEFE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3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aramond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" type="subTitle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45" name="Google Shape;45;p33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7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aramond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" type="body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53" name="Google Shape;53;p37"/>
          <p:cNvCxnSpPr/>
          <p:nvPr/>
        </p:nvCxnSpPr>
        <p:spPr>
          <a:xfrm>
            <a:off x="1207658" y="4485132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37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8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39"/>
          <p:cNvSpPr txBox="1"/>
          <p:nvPr>
            <p:ph idx="2" type="body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39"/>
          <p:cNvSpPr txBox="1"/>
          <p:nvPr>
            <p:ph idx="4" type="body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1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2"/>
          <p:cNvSpPr txBox="1"/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2"/>
          <p:cNvSpPr txBox="1"/>
          <p:nvPr>
            <p:ph idx="1" type="body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7" name="Google Shape;87;p42"/>
          <p:cNvSpPr txBox="1"/>
          <p:nvPr>
            <p:ph idx="2" type="body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8" name="Google Shape;88;p42"/>
          <p:cNvSpPr txBox="1"/>
          <p:nvPr>
            <p:ph idx="10" type="dt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2"/>
          <p:cNvSpPr txBox="1"/>
          <p:nvPr>
            <p:ph idx="11" type="ftr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3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3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4" name="Google Shape;94;p43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3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p43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4"/>
          <p:cNvSpPr txBox="1"/>
          <p:nvPr>
            <p:ph idx="1" type="body"/>
          </p:nvPr>
        </p:nvSpPr>
        <p:spPr>
          <a:xfrm rot="5400000">
            <a:off x="4246035" y="-1040554"/>
            <a:ext cx="3760891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2" name="Google Shape;102;p44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4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4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5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5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9" name="Google Shape;109;p45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5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5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3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300"/>
              <a:buFont typeface="Garamond"/>
              <a:buNone/>
              <a:defRPr b="0" i="0" sz="53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32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  <a:defRPr b="0" i="0" sz="24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alibri"/>
              <a:buChar char="◦"/>
              <a:defRPr b="0" i="0" sz="20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9" name="Google Shape;9;p32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0" name="Google Shape;10;p32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" name="Google Shape;12;p32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00"/>
              <a:buFont typeface="Garamond"/>
              <a:buNone/>
              <a:defRPr b="0" i="0" sz="53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1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  <a:defRPr b="0" i="0" sz="2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Calibri"/>
              <a:buChar char="◦"/>
              <a:defRPr b="0" i="0" sz="2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1" name="Google Shape;31;p31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2" name="Google Shape;32;p31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3" name="Google Shape;33;p31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900" u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31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9.png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jpg"/><Relationship Id="rId4" Type="http://schemas.openxmlformats.org/officeDocument/2006/relationships/image" Target="../media/image9.png"/><Relationship Id="rId5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jp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jpg"/><Relationship Id="rId4" Type="http://schemas.openxmlformats.org/officeDocument/2006/relationships/hyperlink" Target="https://es.wikipedia.org/w/index.php?title=El_Problema_del_Viajante&amp;action=edit&amp;redlink=1" TargetMode="External"/><Relationship Id="rId5" Type="http://schemas.openxmlformats.org/officeDocument/2006/relationships/image" Target="../media/image23.png"/><Relationship Id="rId6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Relationship Id="rId4" Type="http://schemas.openxmlformats.org/officeDocument/2006/relationships/hyperlink" Target="https://www.simbiotia.com/biomimesis/" TargetMode="External"/><Relationship Id="rId5" Type="http://schemas.openxmlformats.org/officeDocument/2006/relationships/hyperlink" Target="https://es.wikipedia.org/wiki/Sistemas_bioinspirados" TargetMode="External"/><Relationship Id="rId6" Type="http://schemas.openxmlformats.org/officeDocument/2006/relationships/hyperlink" Target="https://www.youtube.com/watch?v=xauOQcvLW3c&amp;t=4s" TargetMode="External"/><Relationship Id="rId7" Type="http://schemas.openxmlformats.org/officeDocument/2006/relationships/hyperlink" Target="https://www.youtube.com/watch?v=knYGNpjXqLc&amp;t=344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/>
          <p:nvPr/>
        </p:nvSpPr>
        <p:spPr>
          <a:xfrm>
            <a:off x="-6220" y="0"/>
            <a:ext cx="464131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7" name="Google Shape;117;p1"/>
          <p:cNvSpPr txBox="1"/>
          <p:nvPr>
            <p:ph type="ctrTitle"/>
          </p:nvPr>
        </p:nvSpPr>
        <p:spPr>
          <a:xfrm>
            <a:off x="-124845" y="2483511"/>
            <a:ext cx="5173317" cy="1055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aramond"/>
              <a:buNone/>
            </a:pPr>
            <a:r>
              <a:rPr lang="en-US" sz="3200">
                <a:solidFill>
                  <a:srgbClr val="FFFFFF"/>
                </a:solidFill>
              </a:rPr>
              <a:t>Algoritmo de Optimización Colonia de Hormigas</a:t>
            </a:r>
            <a:endParaRPr/>
          </a:p>
        </p:txBody>
      </p:sp>
      <p:sp>
        <p:nvSpPr>
          <p:cNvPr id="118" name="Google Shape;118;p1"/>
          <p:cNvSpPr txBox="1"/>
          <p:nvPr>
            <p:ph idx="1" type="subTitle"/>
          </p:nvPr>
        </p:nvSpPr>
        <p:spPr>
          <a:xfrm>
            <a:off x="-350280" y="4146504"/>
            <a:ext cx="5173317" cy="1954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EQUIPO 1:</a:t>
            </a:r>
            <a:endParaRPr/>
          </a:p>
          <a:p>
            <a:pPr indent="0" lvl="0" marL="0" rtl="0" algn="ctr">
              <a:lnSpc>
                <a:spcPct val="107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GARCÍA CERÓN DIEGO</a:t>
            </a:r>
            <a:endParaRPr/>
          </a:p>
          <a:p>
            <a:pPr indent="0" lvl="0" marL="0" rtl="0" algn="ctr">
              <a:lnSpc>
                <a:spcPct val="107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CESAR LÓPEZ CRUZ</a:t>
            </a:r>
            <a:endParaRPr/>
          </a:p>
          <a:p>
            <a:pPr indent="0" lvl="0" marL="0" rtl="0" algn="ctr">
              <a:lnSpc>
                <a:spcPct val="107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PÉREZ CARBAJAL EZEQUIEL NAH</a:t>
            </a:r>
            <a:r>
              <a:rPr lang="en-US" sz="1400">
                <a:solidFill>
                  <a:srgbClr val="FFFFFF"/>
                </a:solidFill>
              </a:rPr>
              <a:t>UN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050">
              <a:solidFill>
                <a:srgbClr val="FFFFFF"/>
              </a:solidFill>
            </a:endParaRPr>
          </a:p>
        </p:txBody>
      </p:sp>
      <p:cxnSp>
        <p:nvCxnSpPr>
          <p:cNvPr id="119" name="Google Shape;119;p1"/>
          <p:cNvCxnSpPr/>
          <p:nvPr/>
        </p:nvCxnSpPr>
        <p:spPr>
          <a:xfrm>
            <a:off x="622797" y="3651268"/>
            <a:ext cx="33832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0" name="Google Shape;120;p1"/>
          <p:cNvGrpSpPr/>
          <p:nvPr/>
        </p:nvGrpSpPr>
        <p:grpSpPr>
          <a:xfrm>
            <a:off x="82774" y="100257"/>
            <a:ext cx="4422934" cy="1889527"/>
            <a:chOff x="1663393" y="1241924"/>
            <a:chExt cx="4422934" cy="1889527"/>
          </a:xfrm>
        </p:grpSpPr>
        <p:pic>
          <p:nvPicPr>
            <p:cNvPr descr="https://lh3.googleusercontent.com/RL1oLbUVbUT60RP3rS8R_tfdKZcJAWz_G3vm01dH-RJI4YjK8iFt5rHsg1y-420XLUyueQQ0L3UIF22fLnyFlKOJEPVD4q37JDgjqbx7vF87HIhbES-rEoR28GF2jVuHqhHDqBel" id="121" name="Google Shape;121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63393" y="1241924"/>
              <a:ext cx="714375" cy="1055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gadanX4: Logo ESCOM" id="122" name="Google Shape;122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98877" y="1314949"/>
              <a:ext cx="1187450" cy="909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"/>
            <p:cNvSpPr/>
            <p:nvPr/>
          </p:nvSpPr>
          <p:spPr>
            <a:xfrm>
              <a:off x="2203416" y="2177344"/>
              <a:ext cx="322716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Garamond"/>
                <a:buNone/>
              </a:pPr>
              <a:r>
                <a:t/>
              </a:r>
              <a:endParaRPr b="0" i="0" sz="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INSTITUTO POLITÉCNICO NACIONAL</a:t>
              </a:r>
              <a:endParaRPr b="0" i="0" sz="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Escuela Superior de </a:t>
              </a:r>
              <a:r>
                <a:rPr b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Cómputo</a:t>
              </a:r>
              <a:endParaRPr b="0" i="0" sz="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ESCOM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Estas plantas convierten a las hormigas en sus esclavas" id="124" name="Google Shape;12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5379" y="0"/>
            <a:ext cx="7546621" cy="684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30" name="Google Shape;130;p2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Las hormigas también usan el cierre perimetral para proteger a la colonia |  Ciencia | EL PAÍS" id="132" name="Google Shape;1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/>
          <p:nvPr/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dk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4" name="Google Shape;134;p2"/>
          <p:cNvSpPr txBox="1"/>
          <p:nvPr>
            <p:ph type="title"/>
          </p:nvPr>
        </p:nvSpPr>
        <p:spPr>
          <a:xfrm>
            <a:off x="735791" y="3331444"/>
            <a:ext cx="6470692" cy="12293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aramond"/>
              <a:buNone/>
            </a:pPr>
            <a:r>
              <a:rPr lang="en-US" sz="3800">
                <a:solidFill>
                  <a:schemeClr val="lt1"/>
                </a:solidFill>
              </a:rPr>
              <a:t>Biomimética</a:t>
            </a:r>
            <a:r>
              <a:rPr lang="en-US" sz="3800">
                <a:solidFill>
                  <a:schemeClr val="lt1"/>
                </a:solidFill>
              </a:rPr>
              <a:t> y la modernidad:</a:t>
            </a:r>
            <a:endParaRPr/>
          </a:p>
        </p:txBody>
      </p:sp>
      <p:cxnSp>
        <p:nvCxnSpPr>
          <p:cNvPr id="135" name="Google Shape;135;p2"/>
          <p:cNvCxnSpPr/>
          <p:nvPr/>
        </p:nvCxnSpPr>
        <p:spPr>
          <a:xfrm>
            <a:off x="772429" y="4641183"/>
            <a:ext cx="6309360" cy="0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89803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Planta crece en una grieta de hormigón" id="142" name="Google Shape;142;p3"/>
          <p:cNvPicPr preferRelativeResize="0"/>
          <p:nvPr/>
        </p:nvPicPr>
        <p:blipFill rotWithShape="1">
          <a:blip r:embed="rId3">
            <a:alphaModFix/>
          </a:blip>
          <a:srcRect b="1" l="0" r="1" t="15691"/>
          <a:stretch/>
        </p:blipFill>
        <p:spPr>
          <a:xfrm>
            <a:off x="2843" y="10"/>
            <a:ext cx="1218631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4" name="Google Shape;144;p3"/>
          <p:cNvSpPr txBox="1"/>
          <p:nvPr>
            <p:ph type="title"/>
          </p:nvPr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aramond"/>
              <a:buNone/>
            </a:pPr>
            <a:r>
              <a:rPr lang="en-US" sz="2800">
                <a:solidFill>
                  <a:srgbClr val="FFFFFF"/>
                </a:solidFill>
              </a:rPr>
              <a:t>Biomimética: Imitando la Vida</a:t>
            </a:r>
            <a:br>
              <a:rPr lang="en-US" sz="2800">
                <a:solidFill>
                  <a:srgbClr val="FFFFFF"/>
                </a:solidFill>
              </a:rPr>
            </a:br>
            <a:endParaRPr sz="2800">
              <a:solidFill>
                <a:srgbClr val="FFFFFF"/>
              </a:solidFill>
            </a:endParaRPr>
          </a:p>
        </p:txBody>
      </p:sp>
      <p:cxnSp>
        <p:nvCxnSpPr>
          <p:cNvPr id="145" name="Google Shape;145;p3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3"/>
          <p:cNvSpPr txBox="1"/>
          <p:nvPr/>
        </p:nvSpPr>
        <p:spPr>
          <a:xfrm>
            <a:off x="948648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Biomimética hace referencia a imitar la vida. Proviene de 'Bios', que significa Vida, y 'Mimesis', que es Imitar.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50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 El concepto de biomimetismo consiste en estudiar las mejores ideas del mundo natural para imitar sus diseños, organización y procesos con el fin de abordar problemáticas humanas actuales.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¿Qué es la naturaleza?" id="153" name="Google Shape;153;p4"/>
          <p:cNvPicPr preferRelativeResize="0"/>
          <p:nvPr/>
        </p:nvPicPr>
        <p:blipFill rotWithShape="1">
          <a:blip r:embed="rId3">
            <a:alphaModFix/>
          </a:blip>
          <a:srcRect b="7845" l="0" r="1" t="7846"/>
          <a:stretch/>
        </p:blipFill>
        <p:spPr>
          <a:xfrm>
            <a:off x="2842" y="10"/>
            <a:ext cx="12186314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5" name="Google Shape;155;p4"/>
          <p:cNvSpPr txBox="1"/>
          <p:nvPr>
            <p:ph type="title"/>
          </p:nvPr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Garamond"/>
              <a:buNone/>
            </a:pPr>
            <a:r>
              <a:rPr lang="en-US" sz="2000">
                <a:solidFill>
                  <a:srgbClr val="FFFFFF"/>
                </a:solidFill>
              </a:rPr>
              <a:t>¿Y si en lugar de esta actitud de dominación hacia ella, intentamos comprenderla y aprender de ella?</a:t>
            </a:r>
            <a:br>
              <a:rPr lang="en-US" sz="2000">
                <a:solidFill>
                  <a:srgbClr val="FFFFFF"/>
                </a:solidFill>
              </a:rPr>
            </a:br>
            <a:endParaRPr sz="2000">
              <a:solidFill>
                <a:srgbClr val="FFFFFF"/>
              </a:solidFill>
            </a:endParaRPr>
          </a:p>
        </p:txBody>
      </p:sp>
      <p:cxnSp>
        <p:nvCxnSpPr>
          <p:cNvPr id="156" name="Google Shape;156;p4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4"/>
          <p:cNvSpPr txBox="1"/>
          <p:nvPr>
            <p:ph idx="1" type="body"/>
          </p:nvPr>
        </p:nvSpPr>
        <p:spPr>
          <a:xfrm>
            <a:off x="948648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7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800">
                <a:solidFill>
                  <a:srgbClr val="FFFFFF"/>
                </a:solidFill>
              </a:rPr>
              <a:t>No se trata de copiar la naturaleza, sino de emularla e inspirarse. Se basa en preguntarse: ¿Qué haría la naturaleza en una situación concreta?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1800">
                <a:solidFill>
                  <a:srgbClr val="FFFFFF"/>
                </a:solidFill>
              </a:rPr>
              <a:t>Históricamente, el ser humano ha intentado imponerse a la naturaleza, </a:t>
            </a:r>
            <a:r>
              <a:rPr lang="en-US" sz="1800">
                <a:solidFill>
                  <a:srgbClr val="FFFFFF"/>
                </a:solidFill>
              </a:rPr>
              <a:t>explotandola</a:t>
            </a:r>
            <a:r>
              <a:rPr lang="en-US" sz="1800">
                <a:solidFill>
                  <a:srgbClr val="FFFFFF"/>
                </a:solidFill>
              </a:rPr>
              <a:t> y forzándola para su beneficio. La biomimética propone una nueva perspectiva de colaboración e inspiración en lugar de dominio.</a:t>
            </a:r>
            <a:endParaRPr/>
          </a:p>
          <a:p>
            <a:pPr indent="-32067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El extraño hábito a través del cual las hormigas forman vínculos | La Voz  de Tarija" id="164" name="Google Shape;164;p5"/>
          <p:cNvPicPr preferRelativeResize="0"/>
          <p:nvPr/>
        </p:nvPicPr>
        <p:blipFill rotWithShape="1">
          <a:blip r:embed="rId3">
            <a:alphaModFix/>
          </a:blip>
          <a:srcRect b="2973" l="0" r="1" t="0"/>
          <a:stretch/>
        </p:blipFill>
        <p:spPr>
          <a:xfrm>
            <a:off x="0" y="10"/>
            <a:ext cx="1218631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6" name="Google Shape;166;p5"/>
          <p:cNvSpPr txBox="1"/>
          <p:nvPr>
            <p:ph type="title"/>
          </p:nvPr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aramond"/>
              <a:buNone/>
            </a:pPr>
            <a:r>
              <a:rPr b="0" i="0" lang="en-US" sz="1800">
                <a:solidFill>
                  <a:srgbClr val="FFFFFF"/>
                </a:solidFill>
              </a:rPr>
              <a:t>Origen de los Algoritmos Bioinspirados</a:t>
            </a:r>
            <a:br>
              <a:rPr lang="en-US" sz="1700">
                <a:solidFill>
                  <a:srgbClr val="FFFFFF"/>
                </a:solidFill>
              </a:rPr>
            </a:br>
            <a:endParaRPr sz="1700">
              <a:solidFill>
                <a:srgbClr val="FFFFFF"/>
              </a:solidFill>
            </a:endParaRPr>
          </a:p>
        </p:txBody>
      </p:sp>
      <p:cxnSp>
        <p:nvCxnSpPr>
          <p:cNvPr id="167" name="Google Shape;167;p5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5"/>
          <p:cNvSpPr txBox="1"/>
          <p:nvPr>
            <p:ph idx="1" type="body"/>
          </p:nvPr>
        </p:nvSpPr>
        <p:spPr>
          <a:xfrm>
            <a:off x="948648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Char char=" "/>
            </a:pPr>
            <a:r>
              <a:rPr lang="en-US" sz="1200">
                <a:solidFill>
                  <a:srgbClr val="FFFFFF"/>
                </a:solidFill>
              </a:rPr>
              <a:t>Son sistemas construidos con hardware configurable y sistemas electrónicos que imitan la forma de pensar, procesar información y resolver problemas de sistemas biológicos.</a:t>
            </a:r>
            <a:endParaRPr/>
          </a:p>
          <a:p>
            <a:pPr indent="-91440" lvl="0" marL="91440" rtl="0" algn="l">
              <a:lnSpc>
                <a:spcPct val="107000"/>
              </a:lnSpc>
              <a:spcBef>
                <a:spcPts val="2000"/>
              </a:spcBef>
              <a:spcAft>
                <a:spcPts val="0"/>
              </a:spcAft>
              <a:buSzPts val="1200"/>
              <a:buChar char=" "/>
            </a:pPr>
            <a:r>
              <a:rPr lang="en-US" sz="1200">
                <a:solidFill>
                  <a:srgbClr val="FFFFFF"/>
                </a:solidFill>
              </a:rPr>
              <a:t>Los algoritmos Bioinspirados comenzaron su desarrollo y ganaron popularidad principalmente a partir de la década de 1990.</a:t>
            </a:r>
            <a:endParaRPr/>
          </a:p>
          <a:p>
            <a:pPr indent="-15239" lvl="0" marL="91440" rtl="0" algn="l">
              <a:lnSpc>
                <a:spcPct val="107000"/>
              </a:lnSpc>
              <a:spcBef>
                <a:spcPts val="2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-15239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093157" y="2755344"/>
            <a:ext cx="5691802" cy="2621384"/>
          </a:xfrm>
          <a:prstGeom prst="ellipse">
            <a:avLst/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171" name="Google Shape;171;p5"/>
          <p:cNvGrpSpPr/>
          <p:nvPr/>
        </p:nvGrpSpPr>
        <p:grpSpPr>
          <a:xfrm>
            <a:off x="6515558" y="3164796"/>
            <a:ext cx="4990258" cy="1543408"/>
            <a:chOff x="7343983" y="3865975"/>
            <a:chExt cx="4990258" cy="1543408"/>
          </a:xfrm>
        </p:grpSpPr>
        <p:sp>
          <p:nvSpPr>
            <p:cNvPr id="172" name="Google Shape;172;p5"/>
            <p:cNvSpPr txBox="1"/>
            <p:nvPr/>
          </p:nvSpPr>
          <p:spPr>
            <a:xfrm>
              <a:off x="7343983" y="4393720"/>
              <a:ext cx="499025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Garamond"/>
                <a:buNone/>
              </a:pPr>
              <a:r>
                <a:rPr lang="en-US" sz="1200">
                  <a:solidFill>
                    <a:srgbClr val="FFFFFF"/>
                  </a:solidFill>
                  <a:latin typeface="Garamond"/>
                  <a:ea typeface="Garamond"/>
                  <a:cs typeface="Garamond"/>
                  <a:sym typeface="Garamond"/>
                </a:rPr>
                <a:t>Los desarrollos iniciales se enfocaron en el uso de aproximaciones evolutivas para obtener controladores automáticos para robots autónomos.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Garamond"/>
                <a:buNone/>
              </a:pPr>
              <a:r>
                <a:t/>
              </a:r>
              <a:endParaRPr sz="12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Garamond"/>
                <a:buNone/>
              </a:pPr>
              <a:r>
                <a:rPr lang="en-US" sz="1200">
                  <a:solidFill>
                    <a:srgbClr val="FFFFFF"/>
                  </a:solidFill>
                  <a:latin typeface="Garamond"/>
                  <a:ea typeface="Garamond"/>
                  <a:cs typeface="Garamond"/>
                  <a:sym typeface="Garamond"/>
                </a:rPr>
                <a:t>Cuentan con aplicaciones en algoritmos evolutivos dedicados a áreas como diseño naval, logística y resolución de problemas diversos.</a:t>
              </a:r>
              <a:endParaRPr/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8305227" y="3865975"/>
              <a:ext cx="30677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Garamond"/>
                  <a:ea typeface="Garamond"/>
                  <a:cs typeface="Garamond"/>
                  <a:sym typeface="Garamond"/>
                </a:rPr>
                <a:t>Aplicaciones</a:t>
              </a:r>
              <a:endParaRPr/>
            </a:p>
          </p:txBody>
        </p:sp>
      </p:grpSp>
      <p:sp>
        <p:nvSpPr>
          <p:cNvPr id="174" name="Google Shape;174;p5"/>
          <p:cNvSpPr/>
          <p:nvPr/>
        </p:nvSpPr>
        <p:spPr>
          <a:xfrm>
            <a:off x="7571354" y="3534128"/>
            <a:ext cx="2878667" cy="45719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Abejas - características, diferencia con las avispas y por qué son  importantes"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0" r="46" t="0"/>
          <a:stretch/>
        </p:blipFill>
        <p:spPr>
          <a:xfrm>
            <a:off x="2843" y="10"/>
            <a:ext cx="1218631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2" name="Google Shape;182;p6"/>
          <p:cNvSpPr txBox="1"/>
          <p:nvPr>
            <p:ph type="title"/>
          </p:nvPr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Garamond"/>
              <a:buNone/>
            </a:pPr>
            <a:r>
              <a:rPr lang="en-US" sz="2500">
                <a:solidFill>
                  <a:srgbClr val="FFFFFF"/>
                </a:solidFill>
              </a:rPr>
              <a:t>Resultados y Beneficios de los Algoritmos Bioinspirados</a:t>
            </a:r>
            <a:endParaRPr sz="2500">
              <a:solidFill>
                <a:srgbClr val="FFFFFF"/>
              </a:solidFill>
            </a:endParaRPr>
          </a:p>
        </p:txBody>
      </p:sp>
      <p:cxnSp>
        <p:nvCxnSpPr>
          <p:cNvPr id="183" name="Google Shape;183;p6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6"/>
          <p:cNvSpPr txBox="1"/>
          <p:nvPr/>
        </p:nvSpPr>
        <p:spPr>
          <a:xfrm>
            <a:off x="948648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Los principales beneficios son: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Baja o casi nula producción de residuos</a:t>
            </a:r>
            <a:endParaRPr sz="160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Incremento del ahorro de energía.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Mejoras de la eficiencia (energía, construcción y materiales)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7964451" y="872013"/>
            <a:ext cx="3520075" cy="4212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Estos avances proporcionan un mayor entendimiento de los algoritmos y problemas, buscando obtener las mejores soluciones en cada situación.</a:t>
            </a:r>
            <a:endParaRPr/>
          </a:p>
          <a:p>
            <a:pPr indent="0" lvl="0" marL="0" marR="0" rtl="0" algn="ctr">
              <a:spcBef>
                <a:spcPts val="588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spcBef>
                <a:spcPts val="588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La aplicación de algoritmos evolutivos busca obtener las soluciones más adecuadas para problemas específicos.</a:t>
            </a:r>
            <a:endParaRPr b="1" sz="16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spcBef>
                <a:spcPts val="588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87" name="Google Shape;187;p6"/>
          <p:cNvCxnSpPr/>
          <p:nvPr/>
        </p:nvCxnSpPr>
        <p:spPr>
          <a:xfrm>
            <a:off x="8623134" y="2876765"/>
            <a:ext cx="2360388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Descubre las curiosidades más sorprendentes de las hormigas -  RevistaBoletinBiologica.com.ar"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-1" t="15710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chemeClr val="lt1">
              <a:alpha val="9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5" name="Google Shape;195;p7"/>
          <p:cNvSpPr txBox="1"/>
          <p:nvPr>
            <p:ph type="title"/>
          </p:nvPr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aramond"/>
              <a:buNone/>
            </a:pPr>
            <a:r>
              <a:rPr lang="en-US" sz="2300">
                <a:solidFill>
                  <a:schemeClr val="dk1"/>
                </a:solidFill>
              </a:rPr>
              <a:t>Programas de Optimización en Algoritmos Bioinspirados</a:t>
            </a:r>
            <a:endParaRPr sz="2300">
              <a:solidFill>
                <a:schemeClr val="dk1"/>
              </a:solidFill>
            </a:endParaRPr>
          </a:p>
        </p:txBody>
      </p:sp>
      <p:cxnSp>
        <p:nvCxnSpPr>
          <p:cNvPr id="196" name="Google Shape;196;p7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3F3F3F">
                <a:alpha val="8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7"/>
          <p:cNvSpPr txBox="1"/>
          <p:nvPr>
            <p:ph idx="1" type="body"/>
          </p:nvPr>
        </p:nvSpPr>
        <p:spPr>
          <a:xfrm>
            <a:off x="794052" y="2957964"/>
            <a:ext cx="3414530" cy="2460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-113347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2100">
                <a:solidFill>
                  <a:schemeClr val="dk1"/>
                </a:solidFill>
              </a:rPr>
              <a:t>Entre los primeros programas de optimización bioinspirados se destaca el desarrollo del algoritmo de Colonia de hormigas (ACO).</a:t>
            </a:r>
            <a:endParaRPr/>
          </a:p>
          <a:p>
            <a:pPr indent="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113347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2100">
                <a:solidFill>
                  <a:schemeClr val="dk1"/>
                </a:solidFill>
              </a:rPr>
              <a:t>El algoritmo de Colonias de Hormigas (ACO) se inspiran en el comportamiento de las hormigas reales para resolver problemas de optimización.</a:t>
            </a:r>
            <a:endParaRPr/>
          </a:p>
          <a:p>
            <a:pPr indent="-2666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611534" y="5818869"/>
            <a:ext cx="4468877" cy="5819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Pero y…. ¿ Cómo se comportan las hormigas?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205" name="Google Shape;205;p8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Las hormigas también usan el cierre perimetral para proteger a la colonia |  Ciencia | EL PAÍS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dk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9" name="Google Shape;209;p8"/>
          <p:cNvSpPr txBox="1"/>
          <p:nvPr>
            <p:ph type="title"/>
          </p:nvPr>
        </p:nvSpPr>
        <p:spPr>
          <a:xfrm>
            <a:off x="735791" y="3331444"/>
            <a:ext cx="6470692" cy="12293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aramond"/>
              <a:buNone/>
            </a:pPr>
            <a:r>
              <a:rPr lang="en-US" sz="3800">
                <a:solidFill>
                  <a:schemeClr val="lt1"/>
                </a:solidFill>
              </a:rPr>
              <a:t>El comportamiento de las Colonias de Hormigas:</a:t>
            </a:r>
            <a:endParaRPr/>
          </a:p>
        </p:txBody>
      </p:sp>
      <p:cxnSp>
        <p:nvCxnSpPr>
          <p:cNvPr id="210" name="Google Shape;210;p8"/>
          <p:cNvCxnSpPr/>
          <p:nvPr/>
        </p:nvCxnSpPr>
        <p:spPr>
          <a:xfrm>
            <a:off x="772429" y="4641183"/>
            <a:ext cx="6309360" cy="0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89803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8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Hojas de otoño" id="217" name="Google Shape;217;p9"/>
          <p:cNvPicPr preferRelativeResize="0"/>
          <p:nvPr/>
        </p:nvPicPr>
        <p:blipFill rotWithShape="1">
          <a:blip r:embed="rId3">
            <a:alphaModFix/>
          </a:blip>
          <a:srcRect b="7845" l="0" r="1" t="7846"/>
          <a:stretch/>
        </p:blipFill>
        <p:spPr>
          <a:xfrm>
            <a:off x="2843" y="10"/>
            <a:ext cx="1218631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9" name="Google Shape;219;p9"/>
          <p:cNvSpPr txBox="1"/>
          <p:nvPr>
            <p:ph type="title"/>
          </p:nvPr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</a:pPr>
            <a:r>
              <a:rPr lang="en-US" sz="3600">
                <a:solidFill>
                  <a:srgbClr val="FFFFFF"/>
                </a:solidFill>
              </a:rPr>
              <a:t>Colonias de Hormigas</a:t>
            </a:r>
            <a:endParaRPr sz="3600">
              <a:solidFill>
                <a:srgbClr val="FFFFFF"/>
              </a:solidFill>
            </a:endParaRPr>
          </a:p>
        </p:txBody>
      </p:sp>
      <p:cxnSp>
        <p:nvCxnSpPr>
          <p:cNvPr id="220" name="Google Shape;220;p9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9"/>
          <p:cNvSpPr txBox="1"/>
          <p:nvPr>
            <p:ph idx="1" type="body"/>
          </p:nvPr>
        </p:nvSpPr>
        <p:spPr>
          <a:xfrm>
            <a:off x="948648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 "/>
            </a:pPr>
            <a:r>
              <a:rPr lang="en-US" sz="1200">
                <a:solidFill>
                  <a:srgbClr val="FFFFFF"/>
                </a:solidFill>
              </a:rPr>
              <a:t>En nuestro mundo natural, las hormigas (inicialmente) vagan de manera aleatoria, al azar, y una vez encontrada comida regresan a su colonia dejando un rastro de feromonas. 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Char char=" "/>
            </a:pPr>
            <a:r>
              <a:rPr lang="en-US" sz="1200">
                <a:solidFill>
                  <a:srgbClr val="FFFFFF"/>
                </a:solidFill>
              </a:rPr>
              <a:t>Si otras hormigas encuentran dicho rastro, es probable que estas no sigan caminando aleatoriamente, puede que estas sigan el rastro de feromonas, regresando y reforzándolo si estas encuentran comida finalmente. </a:t>
            </a:r>
            <a:endParaRPr/>
          </a:p>
          <a:p>
            <a:pPr indent="-1523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68.400+ Hormigas Fotografías de stock, fotos e imágenes libres de derechos  - iStock | Hormigas trabajando, Abejas, Trabajo en equipo" id="228" name="Google Shape;228;p10"/>
          <p:cNvPicPr preferRelativeResize="0"/>
          <p:nvPr/>
        </p:nvPicPr>
        <p:blipFill rotWithShape="1">
          <a:blip r:embed="rId3">
            <a:alphaModFix/>
          </a:blip>
          <a:srcRect b="10345" l="0" r="1" t="5347"/>
          <a:stretch/>
        </p:blipFill>
        <p:spPr>
          <a:xfrm>
            <a:off x="20" y="10"/>
            <a:ext cx="1218629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0"/>
          <p:cNvSpPr/>
          <p:nvPr/>
        </p:nvSpPr>
        <p:spPr>
          <a:xfrm>
            <a:off x="7848599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0" name="Google Shape;230;p10"/>
          <p:cNvSpPr txBox="1"/>
          <p:nvPr>
            <p:ph type="title"/>
          </p:nvPr>
        </p:nvSpPr>
        <p:spPr>
          <a:xfrm>
            <a:off x="8089772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</a:pPr>
            <a:r>
              <a:rPr lang="en-US" sz="3600">
                <a:solidFill>
                  <a:srgbClr val="FFFFFF"/>
                </a:solidFill>
              </a:rPr>
              <a:t>Rastro de feromonas</a:t>
            </a:r>
            <a:endParaRPr/>
          </a:p>
        </p:txBody>
      </p:sp>
      <p:cxnSp>
        <p:nvCxnSpPr>
          <p:cNvPr id="231" name="Google Shape;231;p10"/>
          <p:cNvCxnSpPr/>
          <p:nvPr/>
        </p:nvCxnSpPr>
        <p:spPr>
          <a:xfrm>
            <a:off x="8173792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0"/>
          <p:cNvSpPr txBox="1"/>
          <p:nvPr>
            <p:ph idx="1" type="body"/>
          </p:nvPr>
        </p:nvSpPr>
        <p:spPr>
          <a:xfrm>
            <a:off x="8089772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016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 "/>
            </a:pPr>
            <a:r>
              <a:rPr lang="en-US" sz="1600">
                <a:solidFill>
                  <a:srgbClr val="FFFFFF"/>
                </a:solidFill>
              </a:rPr>
              <a:t>Con el paso del tiempo el rastro de feromonas comienza a evaporarse, reduciéndose así su fuerza de atracción. Cuanto más tiempo le tome a una hormiga viajar por el camino y regresar de vuelta otra vez, más tiempo tienen las feromonas para evaporarse. 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/>
          <p:nvPr/>
        </p:nvSpPr>
        <p:spPr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9" name="Google Shape;239;p11"/>
          <p:cNvSpPr txBox="1"/>
          <p:nvPr>
            <p:ph type="title"/>
          </p:nvPr>
        </p:nvSpPr>
        <p:spPr>
          <a:xfrm>
            <a:off x="1097280" y="516835"/>
            <a:ext cx="5977937" cy="16665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aramond"/>
              <a:buNone/>
            </a:pPr>
            <a:r>
              <a:rPr lang="en-US" sz="4000">
                <a:solidFill>
                  <a:srgbClr val="FFFFFF"/>
                </a:solidFill>
              </a:rPr>
              <a:t>Camino corto</a:t>
            </a:r>
            <a:endParaRPr/>
          </a:p>
        </p:txBody>
      </p:sp>
      <p:cxnSp>
        <p:nvCxnSpPr>
          <p:cNvPr id="240" name="Google Shape;240;p11"/>
          <p:cNvCxnSpPr/>
          <p:nvPr/>
        </p:nvCxnSpPr>
        <p:spPr>
          <a:xfrm>
            <a:off x="1215896" y="2353592"/>
            <a:ext cx="530352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1"/>
          <p:cNvSpPr txBox="1"/>
          <p:nvPr>
            <p:ph idx="1" type="body"/>
          </p:nvPr>
        </p:nvSpPr>
        <p:spPr>
          <a:xfrm>
            <a:off x="964114" y="2523849"/>
            <a:ext cx="5977938" cy="3342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solidFill>
                  <a:srgbClr val="FFFFFF"/>
                </a:solidFill>
              </a:rPr>
              <a:t>Un camino corto, en comparación, es marchado más frecuentemente, y por lo tanto la densidad de feromonas se hace más grande en caminos cortos que en los largos. 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solidFill>
                  <a:srgbClr val="FFFFFF"/>
                </a:solidFill>
              </a:rPr>
              <a:t>La evaporación de feromonas también tiene la ventaja de evitar convergencias a óptimos locales. 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solidFill>
                  <a:srgbClr val="FFFFFF"/>
                </a:solidFill>
              </a:rPr>
              <a:t>Si no hubiese evaporación en absoluto, los caminos elegidos por la primera hormiga tenderían a ser excesivamente atractivos para las siguientes hormigas. 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solidFill>
                  <a:srgbClr val="FFFFFF"/>
                </a:solidFill>
              </a:rPr>
              <a:t>En este caso, el espacio de búsqueda de soluciones sería limitado.</a:t>
            </a:r>
            <a:endParaRPr/>
          </a:p>
          <a:p>
            <a:pPr indent="0" lvl="0" marL="9144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descr="Colonia de hormigas png | PNGEgg" id="242" name="Google Shape;2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5217" y="1317098"/>
            <a:ext cx="4806131" cy="4223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Colonia de Hormigas Y Cálculo de Rutas" id="248" name="Google Shape;248;p12"/>
          <p:cNvPicPr preferRelativeResize="0"/>
          <p:nvPr/>
        </p:nvPicPr>
        <p:blipFill rotWithShape="1">
          <a:blip r:embed="rId3">
            <a:alphaModFix/>
          </a:blip>
          <a:srcRect b="0" l="9956" r="1196" t="0"/>
          <a:stretch/>
        </p:blipFill>
        <p:spPr>
          <a:xfrm>
            <a:off x="20" y="10"/>
            <a:ext cx="1218629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2"/>
          <p:cNvSpPr/>
          <p:nvPr/>
        </p:nvSpPr>
        <p:spPr>
          <a:xfrm>
            <a:off x="7848599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0" name="Google Shape;250;p12"/>
          <p:cNvSpPr txBox="1"/>
          <p:nvPr>
            <p:ph type="title"/>
          </p:nvPr>
        </p:nvSpPr>
        <p:spPr>
          <a:xfrm>
            <a:off x="8089772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</a:pPr>
            <a:r>
              <a:rPr lang="en-US" sz="3600">
                <a:solidFill>
                  <a:srgbClr val="FFFFFF"/>
                </a:solidFill>
              </a:rPr>
              <a:t>Decisión de camino</a:t>
            </a:r>
            <a:endParaRPr/>
          </a:p>
        </p:txBody>
      </p:sp>
      <p:cxnSp>
        <p:nvCxnSpPr>
          <p:cNvPr id="251" name="Google Shape;251;p12"/>
          <p:cNvCxnSpPr/>
          <p:nvPr/>
        </p:nvCxnSpPr>
        <p:spPr>
          <a:xfrm>
            <a:off x="8173792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12"/>
          <p:cNvSpPr txBox="1"/>
          <p:nvPr>
            <p:ph idx="1" type="body"/>
          </p:nvPr>
        </p:nvSpPr>
        <p:spPr>
          <a:xfrm>
            <a:off x="8089772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016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 "/>
            </a:pPr>
            <a:r>
              <a:rPr lang="en-US" sz="1600">
                <a:solidFill>
                  <a:srgbClr val="FFFFFF"/>
                </a:solidFill>
              </a:rPr>
              <a:t>Por tanto, cuando una hormiga encuentra un buen camino entre la colonia y la fuente de comida, hay más posibilidades de que otras hormigas sigan este camino y con una retroalimentación positiva se conduce finalmente a todas las hormigas a un solo camino. </a:t>
            </a:r>
            <a:endParaRPr/>
          </a:p>
          <a:p>
            <a:pPr indent="0" lvl="0" marL="9144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259" name="Google Shape;259;p13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Las hormigas también usan el cierre perimetral para proteger a la colonia |  Ciencia | EL PAÍS" id="261" name="Google Shape;2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3"/>
          <p:cNvSpPr/>
          <p:nvPr/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dk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3" name="Google Shape;263;p13"/>
          <p:cNvSpPr txBox="1"/>
          <p:nvPr>
            <p:ph type="title"/>
          </p:nvPr>
        </p:nvSpPr>
        <p:spPr>
          <a:xfrm>
            <a:off x="735791" y="3331444"/>
            <a:ext cx="6470692" cy="12293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Garamond"/>
              <a:buNone/>
            </a:pPr>
            <a:r>
              <a:rPr lang="en-US" sz="3600"/>
              <a:t>Algoritmo de Optimización colonia de hormigas (ACO)</a:t>
            </a:r>
            <a:endParaRPr sz="2400">
              <a:solidFill>
                <a:schemeClr val="lt1"/>
              </a:solidFill>
            </a:endParaRPr>
          </a:p>
        </p:txBody>
      </p:sp>
      <p:cxnSp>
        <p:nvCxnSpPr>
          <p:cNvPr id="264" name="Google Shape;264;p13"/>
          <p:cNvCxnSpPr/>
          <p:nvPr/>
        </p:nvCxnSpPr>
        <p:spPr>
          <a:xfrm>
            <a:off x="772429" y="4641183"/>
            <a:ext cx="6309360" cy="0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89803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Colonia de Hormigas Y Cálculo de Rutas" id="271" name="Google Shape;271;p14"/>
          <p:cNvPicPr preferRelativeResize="0"/>
          <p:nvPr/>
        </p:nvPicPr>
        <p:blipFill rotWithShape="1">
          <a:blip r:embed="rId3">
            <a:alphaModFix/>
          </a:blip>
          <a:srcRect b="0" l="9956" r="1196" t="0"/>
          <a:stretch/>
        </p:blipFill>
        <p:spPr>
          <a:xfrm>
            <a:off x="2843" y="10"/>
            <a:ext cx="1218631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4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3" name="Google Shape;273;p14"/>
          <p:cNvSpPr txBox="1"/>
          <p:nvPr>
            <p:ph type="title"/>
          </p:nvPr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Garamond"/>
              <a:buNone/>
            </a:pPr>
            <a:r>
              <a:rPr lang="en-US" sz="2500">
                <a:solidFill>
                  <a:srgbClr val="FFFFFF"/>
                </a:solidFill>
              </a:rPr>
              <a:t>Algoritmos de Optimización basados en Colonias de Hormigas</a:t>
            </a:r>
            <a:endParaRPr/>
          </a:p>
        </p:txBody>
      </p:sp>
      <p:cxnSp>
        <p:nvCxnSpPr>
          <p:cNvPr id="274" name="Google Shape;274;p14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4"/>
          <p:cNvSpPr txBox="1"/>
          <p:nvPr>
            <p:ph idx="1" type="body"/>
          </p:nvPr>
        </p:nvSpPr>
        <p:spPr>
          <a:xfrm>
            <a:off x="948648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 "/>
            </a:pPr>
            <a:r>
              <a:rPr lang="en-US" sz="1600">
                <a:solidFill>
                  <a:schemeClr val="lt1"/>
                </a:solidFill>
              </a:rPr>
              <a:t>Propuesto por Marco Dorigo en 1992 en su tesis de doctorado</a:t>
            </a:r>
            <a:endParaRPr/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Char char=" "/>
            </a:pPr>
            <a:r>
              <a:rPr lang="en-US" sz="1600">
                <a:solidFill>
                  <a:schemeClr val="lt1"/>
                </a:solidFill>
              </a:rPr>
              <a:t>La idea del algoritmo colonia de hormigas es imitar este comportamiento con "hormigas simuladas" caminando a través de un grafo que representa el problema en cuestión.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6903456" y="3724197"/>
            <a:ext cx="4339896" cy="1305003"/>
          </a:xfrm>
          <a:prstGeom prst="rect">
            <a:avLst/>
          </a:prstGeom>
          <a:solidFill>
            <a:schemeClr val="dk1"/>
          </a:solidFill>
          <a:ln cap="flat" cmpd="sng" w="15875">
            <a:solidFill>
              <a:srgbClr val="0D56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01600" lvl="0" marL="9144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 "/>
            </a:pPr>
            <a:r>
              <a:rPr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Usa una técnica probabilística para solucionar problemas computacionales que pueden reducirse a buscar los mejores caminos o rutas en grafos.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68.400+ Hormigas Fotografías de stock, fotos e imágenes libres de derechos  - iStock | Hormigas trabajando, Abejas, Trabajo en equipo" id="283" name="Google Shape;283;p15"/>
          <p:cNvPicPr preferRelativeResize="0"/>
          <p:nvPr/>
        </p:nvPicPr>
        <p:blipFill rotWithShape="1">
          <a:blip r:embed="rId3">
            <a:alphaModFix/>
          </a:blip>
          <a:srcRect b="10352" l="0" r="-1" t="5356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5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chemeClr val="lt1">
              <a:alpha val="9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5" name="Google Shape;285;p15"/>
          <p:cNvSpPr txBox="1"/>
          <p:nvPr>
            <p:ph type="title"/>
          </p:nvPr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aramond"/>
              <a:buNone/>
            </a:pPr>
            <a:r>
              <a:rPr lang="en-US" sz="3600">
                <a:solidFill>
                  <a:schemeClr val="dk1"/>
                </a:solidFill>
              </a:rPr>
              <a:t>Cómo Funciona </a:t>
            </a:r>
            <a:br>
              <a:rPr lang="en-US" sz="3600">
                <a:solidFill>
                  <a:schemeClr val="dk1"/>
                </a:solidFill>
              </a:rPr>
            </a:br>
            <a:r>
              <a:rPr lang="en-US" sz="3600">
                <a:solidFill>
                  <a:schemeClr val="dk1"/>
                </a:solidFill>
              </a:rPr>
              <a:t>ACO</a:t>
            </a:r>
            <a:endParaRPr/>
          </a:p>
        </p:txBody>
      </p:sp>
      <p:cxnSp>
        <p:nvCxnSpPr>
          <p:cNvPr id="286" name="Google Shape;286;p15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3F3F3F">
                <a:alpha val="8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5"/>
          <p:cNvSpPr txBox="1"/>
          <p:nvPr/>
        </p:nvSpPr>
        <p:spPr>
          <a:xfrm>
            <a:off x="948647" y="2978253"/>
            <a:ext cx="3225419" cy="2615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El algoritmo de optimización de colonia de hormigas replica este comportamiento natural que tienen las hormigas mediante una serie de pasos: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Inicialización de feromonas</a:t>
            </a:r>
            <a:r>
              <a:rPr lang="en-US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: Se asigna una cantidad de feromona inicial a todas las rutas posibles.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Movimiento de hormigas:</a:t>
            </a:r>
            <a:r>
              <a:rPr lang="en-US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Las hormigas seleccionan rutas basadas en una regla probabilística que tiene en cuenta la cantidad de feromona presente y la distancia recorrida.</a:t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68.400+ Hormigas Fotografías de stock, fotos e imágenes libres de derechos  - iStock | Hormigas trabajando, Abejas, Trabajo en equipo" id="294" name="Google Shape;294;p16"/>
          <p:cNvPicPr preferRelativeResize="0"/>
          <p:nvPr/>
        </p:nvPicPr>
        <p:blipFill rotWithShape="1">
          <a:blip r:embed="rId3">
            <a:alphaModFix/>
          </a:blip>
          <a:srcRect b="10352" l="0" r="-1" t="5356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6"/>
          <p:cNvSpPr/>
          <p:nvPr/>
        </p:nvSpPr>
        <p:spPr>
          <a:xfrm>
            <a:off x="7848600" y="1238442"/>
            <a:ext cx="3635926" cy="4355751"/>
          </a:xfrm>
          <a:prstGeom prst="rect">
            <a:avLst/>
          </a:prstGeom>
          <a:solidFill>
            <a:schemeClr val="lt1">
              <a:alpha val="9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 txBox="1"/>
          <p:nvPr>
            <p:ph type="title"/>
          </p:nvPr>
        </p:nvSpPr>
        <p:spPr>
          <a:xfrm>
            <a:off x="8089772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aramond"/>
              <a:buNone/>
            </a:pPr>
            <a:r>
              <a:rPr lang="en-US" sz="3600">
                <a:solidFill>
                  <a:schemeClr val="dk1"/>
                </a:solidFill>
              </a:rPr>
              <a:t>Cómo Funciona </a:t>
            </a:r>
            <a:br>
              <a:rPr lang="en-US" sz="3600">
                <a:solidFill>
                  <a:schemeClr val="dk1"/>
                </a:solidFill>
              </a:rPr>
            </a:br>
            <a:r>
              <a:rPr lang="en-US" sz="3600">
                <a:solidFill>
                  <a:schemeClr val="dk1"/>
                </a:solidFill>
              </a:rPr>
              <a:t>ACO</a:t>
            </a:r>
            <a:endParaRPr/>
          </a:p>
        </p:txBody>
      </p:sp>
      <p:cxnSp>
        <p:nvCxnSpPr>
          <p:cNvPr id="297" name="Google Shape;297;p16"/>
          <p:cNvCxnSpPr/>
          <p:nvPr/>
        </p:nvCxnSpPr>
        <p:spPr>
          <a:xfrm>
            <a:off x="8227643" y="2865016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3F3F3F">
                <a:alpha val="8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6"/>
          <p:cNvSpPr txBox="1"/>
          <p:nvPr/>
        </p:nvSpPr>
        <p:spPr>
          <a:xfrm>
            <a:off x="8089772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Actualización de feromonas</a:t>
            </a:r>
            <a:r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: Después de que todas las hormigas han completado su recorrido, se actualiza la cantidad de feromona en cada camino. Las rutas más cortas tienen una mayor cantidad de feromona.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Evaporación de feromonas: </a:t>
            </a:r>
            <a:r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Para evitar la convergencia prematura hacia una solución subóptima, se simula la evaporación gradual de las feromonas en todas las rutas.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Convergencia hacia una solución: </a:t>
            </a:r>
            <a:r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Con el tiempo, las feromonas acumuladas guían a las hormigas hacia la ruta más corta y eficiente.</a:t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¿Por qué las hormigas caminan en fila?" id="305" name="Google Shape;305;p17"/>
          <p:cNvPicPr preferRelativeResize="0"/>
          <p:nvPr/>
        </p:nvPicPr>
        <p:blipFill rotWithShape="1">
          <a:blip r:embed="rId3">
            <a:alphaModFix/>
          </a:blip>
          <a:srcRect b="19606" l="0" r="1" t="0"/>
          <a:stretch/>
        </p:blipFill>
        <p:spPr>
          <a:xfrm>
            <a:off x="5685" y="0"/>
            <a:ext cx="1218631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307" name="Google Shape;307;p17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17"/>
          <p:cNvSpPr txBox="1"/>
          <p:nvPr/>
        </p:nvSpPr>
        <p:spPr>
          <a:xfrm>
            <a:off x="1083088" y="3139456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La probabilidad de tomar un camino se basa en:</a:t>
            </a:r>
            <a:endParaRPr b="1" sz="1800" u="sng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803940" y="1529390"/>
            <a:ext cx="339475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Representaciones matemáticas del comportamiento de las hormigas</a:t>
            </a:r>
            <a:endParaRPr b="1" sz="20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4674203" y="215504"/>
            <a:ext cx="6161102" cy="3452612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Donde: </a:t>
            </a:r>
            <a:endParaRPr sz="16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❖"/>
            </a:pPr>
            <a:r>
              <a:rPr b="1" i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K</a:t>
            </a:r>
            <a:r>
              <a:rPr i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 una hormiga 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❖"/>
            </a:pPr>
            <a:r>
              <a:rPr b="1" i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X y Y</a:t>
            </a: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son ejes de movimiento</a:t>
            </a:r>
            <a:endParaRPr sz="16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Alfa y beta son parámetros positivos que representan la influencia de la feromona sobre el camino.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❖"/>
            </a:pPr>
            <a:r>
              <a:rPr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Si </a:t>
            </a: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alfa</a:t>
            </a:r>
            <a:r>
              <a:rPr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es alto se tomará preferencia a los caminos con mayores feromonas.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❖"/>
            </a:pPr>
            <a:r>
              <a:rPr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Si </a:t>
            </a: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beta</a:t>
            </a:r>
            <a:r>
              <a:rPr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es alto se tomará como preferencia los caminos menos costosos.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El punto de ACO radica en hallar el equilibrio entre estos dos parámetros, rastro y costo. </a:t>
            </a:r>
            <a:endParaRPr/>
          </a:p>
        </p:txBody>
      </p:sp>
      <p:pic>
        <p:nvPicPr>
          <p:cNvPr id="312" name="Google Shape;3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900" y="3815054"/>
            <a:ext cx="3362794" cy="1629002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76200" kx="-800400" rotWithShape="0" algn="bl" dir="2700000" dist="12700" sy="-23000">
              <a:srgbClr val="000000">
                <a:alpha val="20000"/>
              </a:srgbClr>
            </a:outerShdw>
          </a:effectLst>
        </p:spPr>
      </p:pic>
      <p:pic>
        <p:nvPicPr>
          <p:cNvPr descr="Gráfico, Gráfico radial, Gráfico de líneas&#10;&#10;Descripción generada automáticamente" id="313" name="Google Shape;31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7502" y="3797906"/>
            <a:ext cx="3244668" cy="2602894"/>
          </a:xfrm>
          <a:prstGeom prst="rect">
            <a:avLst/>
          </a:prstGeom>
          <a:noFill/>
          <a:ln cap="sq" cmpd="sng" w="190500">
            <a:solidFill>
              <a:srgbClr val="C8C6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bl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¿Por qué las hormigas caminan en fila?" id="319" name="Google Shape;319;p18"/>
          <p:cNvPicPr preferRelativeResize="0"/>
          <p:nvPr/>
        </p:nvPicPr>
        <p:blipFill rotWithShape="1">
          <a:blip r:embed="rId3">
            <a:alphaModFix/>
          </a:blip>
          <a:srcRect b="19622" l="0" r="-1" t="0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8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chemeClr val="lt1">
              <a:alpha val="9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Representaciones matemáticas del comportamiento de las hormigas</a:t>
            </a:r>
            <a:endParaRPr b="1" sz="2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322" name="Google Shape;322;p18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3F3F3F">
                <a:alpha val="8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8"/>
          <p:cNvSpPr txBox="1"/>
          <p:nvPr/>
        </p:nvSpPr>
        <p:spPr>
          <a:xfrm>
            <a:off x="948648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Actualización de feromonas</a:t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Cuando todas las hormigas han completado una solución, los rastros son actualizados por: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Diagrama&#10;&#10;Descripción generada automáticamente con confianza media" id="325" name="Google Shape;325;p18"/>
          <p:cNvPicPr preferRelativeResize="0"/>
          <p:nvPr/>
        </p:nvPicPr>
        <p:blipFill rotWithShape="1">
          <a:blip r:embed="rId4">
            <a:alphaModFix/>
          </a:blip>
          <a:srcRect b="14546" l="-1" r="-2646" t="0"/>
          <a:stretch/>
        </p:blipFill>
        <p:spPr>
          <a:xfrm>
            <a:off x="1082717" y="4342483"/>
            <a:ext cx="288544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4574" y="668616"/>
            <a:ext cx="7278116" cy="1743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mapa, aire&#10;&#10;Descripción generada automáticamente" id="327" name="Google Shape;32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2443" y="2878783"/>
            <a:ext cx="3782378" cy="3055168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¿Por qué las hormigas caminan en fila?" id="333" name="Google Shape;333;p19"/>
          <p:cNvPicPr preferRelativeResize="0"/>
          <p:nvPr/>
        </p:nvPicPr>
        <p:blipFill rotWithShape="1">
          <a:blip r:embed="rId3">
            <a:alphaModFix/>
          </a:blip>
          <a:srcRect b="19606" l="0" r="1" t="0"/>
          <a:stretch/>
        </p:blipFill>
        <p:spPr>
          <a:xfrm>
            <a:off x="5685" y="0"/>
            <a:ext cx="1218631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9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335" name="Google Shape;335;p19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9"/>
          <p:cNvSpPr txBox="1"/>
          <p:nvPr/>
        </p:nvSpPr>
        <p:spPr>
          <a:xfrm>
            <a:off x="1083088" y="3139456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Típicamente dado para el </a:t>
            </a:r>
            <a:r>
              <a:rPr lang="en-US" sz="1800" u="sng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Problema del Viajante</a:t>
            </a: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 (con movimientos correspondientes a los arcos del grafo) dada por: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803940" y="1529390"/>
            <a:ext cx="339475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Representaciones matemáticas del comportamiento de las hormigas</a:t>
            </a:r>
            <a:endParaRPr b="1" sz="20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4946863" y="847184"/>
            <a:ext cx="6161102" cy="1364412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Donde:</a:t>
            </a:r>
            <a:endParaRPr/>
          </a:p>
          <a:p>
            <a:pPr indent="-342900" lvl="0" marL="34290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❖"/>
            </a:pPr>
            <a:r>
              <a:rPr b="1" i="1"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LK</a:t>
            </a: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 es el costo de la ruta de la </a:t>
            </a:r>
            <a:r>
              <a:rPr b="1" i="1"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Kth</a:t>
            </a: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hormiga (en la mayoría de los casos es la longitud)  </a:t>
            </a:r>
            <a:endParaRPr/>
          </a:p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❖"/>
            </a:pPr>
            <a:r>
              <a:rPr b="1" i="1"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Q</a:t>
            </a: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 es una constante.</a:t>
            </a:r>
            <a:endParaRPr/>
          </a:p>
        </p:txBody>
      </p:sp>
      <p:pic>
        <p:nvPicPr>
          <p:cNvPr id="340" name="Google Shape;34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82" y="4560209"/>
            <a:ext cx="4639310" cy="542925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  <p:pic>
        <p:nvPicPr>
          <p:cNvPr descr="Gráfico, Gráfico radial, Gráfico de líneas&#10;&#10;Descripción generada automáticamente" id="341" name="Google Shape;34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7572" y="2377568"/>
            <a:ext cx="4136036" cy="3453089"/>
          </a:xfrm>
          <a:prstGeom prst="rect">
            <a:avLst/>
          </a:prstGeom>
          <a:noFill/>
          <a:ln cap="sq" cmpd="sng" w="190500">
            <a:solidFill>
              <a:srgbClr val="C8C6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bl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347" name="Google Shape;347;p20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Las hormigas también usan el cierre perimetral para proteger a la colonia |  Ciencia | EL PAÍS" id="349" name="Google Shape;3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0"/>
          <p:cNvSpPr/>
          <p:nvPr/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dk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51" name="Google Shape;351;p20"/>
          <p:cNvSpPr txBox="1"/>
          <p:nvPr>
            <p:ph type="title"/>
          </p:nvPr>
        </p:nvSpPr>
        <p:spPr>
          <a:xfrm>
            <a:off x="735791" y="3331444"/>
            <a:ext cx="6470692" cy="12293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aramond"/>
              <a:buNone/>
            </a:pPr>
            <a:r>
              <a:rPr lang="en-US" sz="3800">
                <a:solidFill>
                  <a:schemeClr val="lt1"/>
                </a:solidFill>
              </a:rPr>
              <a:t>Aplicaciones en el mundo Real:</a:t>
            </a:r>
            <a:endParaRPr/>
          </a:p>
        </p:txBody>
      </p:sp>
      <p:cxnSp>
        <p:nvCxnSpPr>
          <p:cNvPr id="352" name="Google Shape;352;p20"/>
          <p:cNvCxnSpPr/>
          <p:nvPr/>
        </p:nvCxnSpPr>
        <p:spPr>
          <a:xfrm>
            <a:off x="772429" y="4641183"/>
            <a:ext cx="6309360" cy="0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89803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2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59" name="Google Shape;359;p21"/>
          <p:cNvSpPr txBox="1"/>
          <p:nvPr>
            <p:ph type="title"/>
          </p:nvPr>
        </p:nvSpPr>
        <p:spPr>
          <a:xfrm>
            <a:off x="643467" y="516835"/>
            <a:ext cx="3448259" cy="16665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aramond"/>
              <a:buNone/>
            </a:pPr>
            <a:r>
              <a:rPr lang="en-US" sz="4000">
                <a:solidFill>
                  <a:srgbClr val="FFFFFF"/>
                </a:solidFill>
              </a:rPr>
              <a:t>Aplicaciones en el Mundo Real</a:t>
            </a:r>
            <a:endParaRPr/>
          </a:p>
        </p:txBody>
      </p:sp>
      <p:cxnSp>
        <p:nvCxnSpPr>
          <p:cNvPr id="360" name="Google Shape;360;p21"/>
          <p:cNvCxnSpPr/>
          <p:nvPr/>
        </p:nvCxnSpPr>
        <p:spPr>
          <a:xfrm>
            <a:off x="723686" y="2353592"/>
            <a:ext cx="32918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21"/>
          <p:cNvSpPr txBox="1"/>
          <p:nvPr>
            <p:ph idx="1" type="body"/>
          </p:nvPr>
        </p:nvSpPr>
        <p:spPr>
          <a:xfrm>
            <a:off x="643467" y="2546224"/>
            <a:ext cx="3448259" cy="3342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14300" lvl="0" marL="914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solidFill>
                  <a:srgbClr val="FFFFFF"/>
                </a:solidFill>
              </a:rPr>
              <a:t>Su aplicación en el mundo real es importante por su capacidad para encontrar soluciones cercanas a las óptimas.</a:t>
            </a:r>
            <a:endParaRPr sz="1800">
              <a:solidFill>
                <a:srgbClr val="FFFFFF"/>
              </a:solidFill>
            </a:endParaRPr>
          </a:p>
          <a:p>
            <a:pPr indent="-114300" lvl="0" marL="9144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solidFill>
                  <a:srgbClr val="FFFFFF"/>
                </a:solidFill>
              </a:rPr>
              <a:t>Principalmente su solución para problemas más complejos lo hace muy atractivo en el campo de la optimización moderna.</a:t>
            </a:r>
            <a:endParaRPr/>
          </a:p>
          <a:p>
            <a:pPr indent="0" lvl="0" marL="9144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descr="Las placas solares también pueden convertirse en un refugio para las abejas" id="362" name="Google Shape;362;p21"/>
          <p:cNvPicPr preferRelativeResize="0"/>
          <p:nvPr/>
        </p:nvPicPr>
        <p:blipFill rotWithShape="1">
          <a:blip r:embed="rId3">
            <a:alphaModFix/>
          </a:blip>
          <a:srcRect b="7487" l="0" r="-1" t="1529"/>
          <a:stretch/>
        </p:blipFill>
        <p:spPr>
          <a:xfrm>
            <a:off x="4654296" y="10"/>
            <a:ext cx="7537703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68" name="Google Shape;368;p22"/>
          <p:cNvSpPr txBox="1"/>
          <p:nvPr>
            <p:ph type="title"/>
          </p:nvPr>
        </p:nvSpPr>
        <p:spPr>
          <a:xfrm>
            <a:off x="878911" y="643468"/>
            <a:ext cx="3177847" cy="1674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700"/>
              <a:buFont typeface="Garamond"/>
              <a:buNone/>
            </a:pPr>
            <a:r>
              <a:rPr lang="en-US" sz="3700"/>
              <a:t>Aplicaciones en el Mundo Real</a:t>
            </a:r>
            <a:endParaRPr/>
          </a:p>
        </p:txBody>
      </p:sp>
      <p:cxnSp>
        <p:nvCxnSpPr>
          <p:cNvPr id="369" name="Google Shape;369;p22"/>
          <p:cNvCxnSpPr/>
          <p:nvPr/>
        </p:nvCxnSpPr>
        <p:spPr>
          <a:xfrm>
            <a:off x="962164" y="2478513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22"/>
          <p:cNvSpPr txBox="1"/>
          <p:nvPr>
            <p:ph idx="1" type="body"/>
          </p:nvPr>
        </p:nvSpPr>
        <p:spPr>
          <a:xfrm>
            <a:off x="858064" y="2639380"/>
            <a:ext cx="3205049" cy="3229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 "/>
            </a:pPr>
            <a:r>
              <a:rPr b="1" lang="en-US" sz="1400">
                <a:solidFill>
                  <a:schemeClr val="dk1"/>
                </a:solidFill>
              </a:rPr>
              <a:t>Problema del viajante (TSP)</a:t>
            </a:r>
            <a:r>
              <a:rPr lang="en-US" sz="1400">
                <a:solidFill>
                  <a:schemeClr val="dk1"/>
                </a:solidFill>
              </a:rPr>
              <a:t>: Es una de las aplicaciones más conocidas de ACO. Se utiliza para encontrar la ruta más corta que visite todas las ciudades exactamente una vez y regrese al punto de partida. Esto tiene aplicaciones en logística, planificación de rutas de entrega y diseño de redes de telecomunicaciones.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400"/>
              <a:buChar char=" "/>
            </a:pPr>
            <a:r>
              <a:rPr b="1" lang="en-US" sz="1400">
                <a:solidFill>
                  <a:schemeClr val="dk1"/>
                </a:solidFill>
              </a:rPr>
              <a:t>Enrutamiento de vehículos</a:t>
            </a:r>
            <a:r>
              <a:rPr lang="en-US" sz="1400">
                <a:solidFill>
                  <a:schemeClr val="dk1"/>
                </a:solidFill>
              </a:rPr>
              <a:t>: ACO se aplica para optimizar rutas de vehículos de reparto, como camiones de entrega, para minimizar la distancia recorrida y maximizar la eficiencia en la entrega de bienes.</a:t>
            </a:r>
            <a:endParaRPr/>
          </a:p>
          <a:p>
            <a:pPr indent="-8889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</p:txBody>
      </p:sp>
      <p:pic>
        <p:nvPicPr>
          <p:cNvPr descr="Computación – Temario | Colegio Cientifico Albert Einstein" id="371" name="Google Shape;371;p22"/>
          <p:cNvPicPr preferRelativeResize="0"/>
          <p:nvPr/>
        </p:nvPicPr>
        <p:blipFill rotWithShape="1">
          <a:blip r:embed="rId3">
            <a:alphaModFix/>
          </a:blip>
          <a:srcRect b="3574" l="0" r="-1" t="11876"/>
          <a:stretch/>
        </p:blipFill>
        <p:spPr>
          <a:xfrm>
            <a:off x="5009442" y="643466"/>
            <a:ext cx="6180570" cy="522562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2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78" name="Google Shape;378;p23"/>
          <p:cNvSpPr txBox="1"/>
          <p:nvPr>
            <p:ph type="title"/>
          </p:nvPr>
        </p:nvSpPr>
        <p:spPr>
          <a:xfrm>
            <a:off x="878911" y="643468"/>
            <a:ext cx="3177847" cy="1674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700"/>
              <a:buFont typeface="Garamond"/>
              <a:buNone/>
            </a:pPr>
            <a:r>
              <a:rPr lang="en-US" sz="3700"/>
              <a:t>Aplicaciones en el Mundo Real</a:t>
            </a:r>
            <a:endParaRPr/>
          </a:p>
        </p:txBody>
      </p:sp>
      <p:cxnSp>
        <p:nvCxnSpPr>
          <p:cNvPr id="379" name="Google Shape;379;p23"/>
          <p:cNvCxnSpPr/>
          <p:nvPr/>
        </p:nvCxnSpPr>
        <p:spPr>
          <a:xfrm>
            <a:off x="962164" y="2478513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p23"/>
          <p:cNvSpPr txBox="1"/>
          <p:nvPr>
            <p:ph idx="1" type="body"/>
          </p:nvPr>
        </p:nvSpPr>
        <p:spPr>
          <a:xfrm>
            <a:off x="527864" y="2684196"/>
            <a:ext cx="3849403" cy="3390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 sz="1400">
                <a:solidFill>
                  <a:schemeClr val="dk1"/>
                </a:solidFill>
              </a:rPr>
              <a:t>Diseño de redes de comunicación</a:t>
            </a:r>
            <a:r>
              <a:rPr lang="en-US" sz="1400">
                <a:solidFill>
                  <a:schemeClr val="dk1"/>
                </a:solidFill>
              </a:rPr>
              <a:t>: En la planificación y diseño de redes de telecomunicaciones, ACO puede ayudar a encontrar la disposición óptima de nodos y conexiones para minimizar los costos o maximizar la eficiencia de la red.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rPr b="1" lang="en-US" sz="1400">
                <a:solidFill>
                  <a:schemeClr val="dk1"/>
                </a:solidFill>
              </a:rPr>
              <a:t>Planificación de horarios</a:t>
            </a:r>
            <a:r>
              <a:rPr lang="en-US" sz="1400">
                <a:solidFill>
                  <a:schemeClr val="dk1"/>
                </a:solidFill>
              </a:rPr>
              <a:t>: En entornos complejos como la programación de horarios escolares o laborales, ACO puede ser utilizado para optimizar la distribución de recursos y tiempos.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rPr b="1" lang="en-US" sz="1400">
                <a:solidFill>
                  <a:schemeClr val="dk1"/>
                </a:solidFill>
              </a:rPr>
              <a:t>Optimización de rutas de cableado y circuitos</a:t>
            </a:r>
            <a:r>
              <a:rPr lang="en-US" sz="1400">
                <a:solidFill>
                  <a:schemeClr val="dk1"/>
                </a:solidFill>
              </a:rPr>
              <a:t>: En ingeniería eléctrica y electrónica, ACO se usa para diseñar rutas de cableado eficientes y circuitos electrónicos.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rPr b="1" lang="en-US" sz="1400">
                <a:solidFill>
                  <a:schemeClr val="dk1"/>
                </a:solidFill>
              </a:rPr>
              <a:t>Optimización de producción</a:t>
            </a:r>
            <a:r>
              <a:rPr lang="en-US" sz="1400">
                <a:solidFill>
                  <a:schemeClr val="dk1"/>
                </a:solidFill>
              </a:rPr>
              <a:t>: En la industria manufacturera, ACO se emplea para mejorar el diseño de líneas de producción, minimizar tiempos de espera y maximizar la eficiencia en la distribución de tareas.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800"/>
          </a:p>
        </p:txBody>
      </p:sp>
      <p:pic>
        <p:nvPicPr>
          <p:cNvPr descr="Computación – Temario | Colegio Cientifico Albert Einstein" id="381" name="Google Shape;381;p23"/>
          <p:cNvPicPr preferRelativeResize="0"/>
          <p:nvPr/>
        </p:nvPicPr>
        <p:blipFill rotWithShape="1">
          <a:blip r:embed="rId3">
            <a:alphaModFix/>
          </a:blip>
          <a:srcRect b="3574" l="0" r="-1" t="11876"/>
          <a:stretch/>
        </p:blipFill>
        <p:spPr>
          <a:xfrm>
            <a:off x="5009442" y="643466"/>
            <a:ext cx="6180570" cy="522562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4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Con cubiertas verdes, menos hormigas en el yerbal" id="388" name="Google Shape;388;p24"/>
          <p:cNvPicPr preferRelativeResize="0"/>
          <p:nvPr/>
        </p:nvPicPr>
        <p:blipFill rotWithShape="1">
          <a:blip r:embed="rId3">
            <a:alphaModFix/>
          </a:blip>
          <a:srcRect b="0" l="0" r="-1" t="5833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4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chemeClr val="lt1">
              <a:alpha val="9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90" name="Google Shape;390;p24"/>
          <p:cNvSpPr txBox="1"/>
          <p:nvPr>
            <p:ph type="title"/>
          </p:nvPr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aramond"/>
              <a:buNone/>
            </a:pPr>
            <a:r>
              <a:rPr lang="en-US" sz="3600">
                <a:solidFill>
                  <a:schemeClr val="dk1"/>
                </a:solidFill>
              </a:rPr>
              <a:t>Ventajas de ACO:</a:t>
            </a:r>
            <a:endParaRPr/>
          </a:p>
        </p:txBody>
      </p:sp>
      <p:cxnSp>
        <p:nvCxnSpPr>
          <p:cNvPr id="391" name="Google Shape;391;p24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3F3F3F">
                <a:alpha val="8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24"/>
          <p:cNvSpPr txBox="1"/>
          <p:nvPr>
            <p:ph idx="1" type="body"/>
          </p:nvPr>
        </p:nvSpPr>
        <p:spPr>
          <a:xfrm>
            <a:off x="948648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10000"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b="1" lang="en-US" sz="1400">
                <a:solidFill>
                  <a:schemeClr val="dk1"/>
                </a:solidFill>
              </a:rPr>
              <a:t>Capacidad para encontrar soluciones cercanas a óptimas:</a:t>
            </a:r>
            <a:r>
              <a:rPr lang="en-US" sz="1400">
                <a:solidFill>
                  <a:schemeClr val="dk1"/>
                </a:solidFill>
              </a:rPr>
              <a:t> ACO es conocido por su habilidad para encontrar soluciones cercanas a óptimas en problemas complejos de optimización combinatoria, como el Problema del Viajante (TSP) y problemas de enrutamiento.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Char char=" "/>
            </a:pPr>
            <a:r>
              <a:rPr b="1" lang="en-US" sz="1400">
                <a:solidFill>
                  <a:schemeClr val="dk1"/>
                </a:solidFill>
              </a:rPr>
              <a:t>Adaptabilidad a diferentes problemas:</a:t>
            </a:r>
            <a:r>
              <a:rPr lang="en-US" sz="1400">
                <a:solidFill>
                  <a:schemeClr val="dk1"/>
                </a:solidFill>
              </a:rPr>
              <a:t> Puede aplicarse a una amplia gama de problemas de optimización, desde rutas de vehículos hasta diseño de redes, debido a su naturaleza adaptable y versátil.</a:t>
            </a:r>
            <a:endParaRPr/>
          </a:p>
          <a:p>
            <a:pPr indent="-20954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5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Con cubiertas verdes, menos hormigas en el yerbal" id="399" name="Google Shape;399;p25"/>
          <p:cNvPicPr preferRelativeResize="0"/>
          <p:nvPr/>
        </p:nvPicPr>
        <p:blipFill rotWithShape="1">
          <a:blip r:embed="rId3">
            <a:alphaModFix/>
          </a:blip>
          <a:srcRect b="0" l="0" r="-1" t="5833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5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chemeClr val="lt1">
              <a:alpha val="9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01" name="Google Shape;401;p25"/>
          <p:cNvSpPr txBox="1"/>
          <p:nvPr>
            <p:ph type="title"/>
          </p:nvPr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aramond"/>
              <a:buNone/>
            </a:pPr>
            <a:r>
              <a:rPr lang="en-US" sz="3600">
                <a:solidFill>
                  <a:schemeClr val="dk1"/>
                </a:solidFill>
              </a:rPr>
              <a:t>Ventajas de ACO:</a:t>
            </a:r>
            <a:endParaRPr/>
          </a:p>
        </p:txBody>
      </p:sp>
      <p:cxnSp>
        <p:nvCxnSpPr>
          <p:cNvPr id="402" name="Google Shape;402;p25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3F3F3F">
                <a:alpha val="8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25"/>
          <p:cNvSpPr txBox="1"/>
          <p:nvPr>
            <p:ph idx="1" type="body"/>
          </p:nvPr>
        </p:nvSpPr>
        <p:spPr>
          <a:xfrm>
            <a:off x="948648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 "/>
            </a:pPr>
            <a:r>
              <a:rPr b="1" lang="en-US" sz="1400">
                <a:solidFill>
                  <a:schemeClr val="dk1"/>
                </a:solidFill>
              </a:rPr>
              <a:t>Paralelización: </a:t>
            </a:r>
            <a:r>
              <a:rPr lang="en-US" sz="1400">
                <a:solidFill>
                  <a:schemeClr val="dk1"/>
                </a:solidFill>
              </a:rPr>
              <a:t>Es posible paralelizar el algoritmo, lo que significa que puede manejar eficientemente problemas grandes al distribuir la búsqueda entre múltiples agentes (hormigas).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400"/>
              <a:buChar char=" "/>
            </a:pPr>
            <a:r>
              <a:rPr b="1" lang="en-US" sz="1400">
                <a:solidFill>
                  <a:schemeClr val="dk1"/>
                </a:solidFill>
              </a:rPr>
              <a:t>Inspirado en la naturaleza: </a:t>
            </a:r>
            <a:r>
              <a:rPr lang="en-US" sz="1400">
                <a:solidFill>
                  <a:schemeClr val="dk1"/>
                </a:solidFill>
              </a:rPr>
              <a:t>Está inspirado en el comportamiento de las hormigas reales y su capacidad para encontrar caminos eficientes. Esta inspiración biológica a menudo conduce a soluciones innovadoras y efectivas.</a:t>
            </a:r>
            <a:endParaRPr/>
          </a:p>
          <a:p>
            <a:pPr indent="-15239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04" name="Google Shape;404;p25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6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Hormigas y plantas: una sólida y centenaria sociedad - metroflorecuador.com" id="410" name="Google Shape;410;p26"/>
          <p:cNvPicPr preferRelativeResize="0"/>
          <p:nvPr/>
        </p:nvPicPr>
        <p:blipFill rotWithShape="1">
          <a:blip r:embed="rId3">
            <a:alphaModFix/>
          </a:blip>
          <a:srcRect b="2830" l="0" r="1" t="22135"/>
          <a:stretch/>
        </p:blipFill>
        <p:spPr>
          <a:xfrm>
            <a:off x="20" y="10"/>
            <a:ext cx="1218629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6"/>
          <p:cNvSpPr/>
          <p:nvPr/>
        </p:nvSpPr>
        <p:spPr>
          <a:xfrm>
            <a:off x="7848599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12" name="Google Shape;412;p26"/>
          <p:cNvSpPr txBox="1"/>
          <p:nvPr>
            <p:ph type="title"/>
          </p:nvPr>
        </p:nvSpPr>
        <p:spPr>
          <a:xfrm>
            <a:off x="8089772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</a:pPr>
            <a:r>
              <a:rPr lang="en-US" sz="3600">
                <a:solidFill>
                  <a:srgbClr val="FFFFFF"/>
                </a:solidFill>
              </a:rPr>
              <a:t>Desventajas de ACO:</a:t>
            </a:r>
            <a:endParaRPr/>
          </a:p>
        </p:txBody>
      </p:sp>
      <p:cxnSp>
        <p:nvCxnSpPr>
          <p:cNvPr id="413" name="Google Shape;413;p26"/>
          <p:cNvCxnSpPr/>
          <p:nvPr/>
        </p:nvCxnSpPr>
        <p:spPr>
          <a:xfrm>
            <a:off x="8173792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26"/>
          <p:cNvSpPr txBox="1"/>
          <p:nvPr>
            <p:ph idx="1" type="body"/>
          </p:nvPr>
        </p:nvSpPr>
        <p:spPr>
          <a:xfrm>
            <a:off x="8089772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10000"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b="1" lang="en-US" sz="1400">
                <a:solidFill>
                  <a:srgbClr val="FFFFFF"/>
                </a:solidFill>
              </a:rPr>
              <a:t>Sensibilidad a parámetros:</a:t>
            </a:r>
            <a:r>
              <a:rPr lang="en-US" sz="1400">
                <a:solidFill>
                  <a:srgbClr val="FFFFFF"/>
                </a:solidFill>
              </a:rPr>
              <a:t> ACO tiene parámetros sensibles que deben ser ajustados correctamente para obtener un rendimiento óptimo. Modificar estos parámetros puede ser un desafío y podría afectar la convergencia del algoritmo.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Char char=" "/>
            </a:pPr>
            <a:r>
              <a:rPr b="1" lang="en-US" sz="1400">
                <a:solidFill>
                  <a:srgbClr val="FFFFFF"/>
                </a:solidFill>
              </a:rPr>
              <a:t>Complejidad computacional:</a:t>
            </a:r>
            <a:r>
              <a:rPr lang="en-US" sz="1400">
                <a:solidFill>
                  <a:srgbClr val="FFFFFF"/>
                </a:solidFill>
              </a:rPr>
              <a:t> En problemas grandes y complejos, la cantidad de feromonas y caminos posibles puede aumentar significativamente, lo que conlleva un aumento en la complejidad computacional y el tiempo de ejecución.</a:t>
            </a:r>
            <a:endParaRPr/>
          </a:p>
          <a:p>
            <a:pPr indent="-20954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15" name="Google Shape;415;p2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"/>
          <p:cNvSpPr/>
          <p:nvPr/>
        </p:nvSpPr>
        <p:spPr>
          <a:xfrm>
            <a:off x="0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Hormigas y plantas: una sólida y centenaria sociedad - metroflorecuador.com" id="421" name="Google Shape;421;p27"/>
          <p:cNvPicPr preferRelativeResize="0"/>
          <p:nvPr/>
        </p:nvPicPr>
        <p:blipFill rotWithShape="1">
          <a:blip r:embed="rId3">
            <a:alphaModFix/>
          </a:blip>
          <a:srcRect b="2830" l="0" r="1" t="22135"/>
          <a:stretch/>
        </p:blipFill>
        <p:spPr>
          <a:xfrm>
            <a:off x="20" y="10"/>
            <a:ext cx="1218629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7"/>
          <p:cNvSpPr/>
          <p:nvPr/>
        </p:nvSpPr>
        <p:spPr>
          <a:xfrm>
            <a:off x="7848599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23" name="Google Shape;423;p27"/>
          <p:cNvSpPr txBox="1"/>
          <p:nvPr>
            <p:ph type="title"/>
          </p:nvPr>
        </p:nvSpPr>
        <p:spPr>
          <a:xfrm>
            <a:off x="8089772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</a:pPr>
            <a:r>
              <a:rPr lang="en-US" sz="3600">
                <a:solidFill>
                  <a:srgbClr val="FFFFFF"/>
                </a:solidFill>
              </a:rPr>
              <a:t>Desventajas de ACO:</a:t>
            </a:r>
            <a:endParaRPr/>
          </a:p>
        </p:txBody>
      </p:sp>
      <p:cxnSp>
        <p:nvCxnSpPr>
          <p:cNvPr id="424" name="Google Shape;424;p27"/>
          <p:cNvCxnSpPr/>
          <p:nvPr/>
        </p:nvCxnSpPr>
        <p:spPr>
          <a:xfrm>
            <a:off x="8173792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27"/>
          <p:cNvSpPr txBox="1"/>
          <p:nvPr>
            <p:ph idx="1" type="body"/>
          </p:nvPr>
        </p:nvSpPr>
        <p:spPr>
          <a:xfrm>
            <a:off x="8089772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 "/>
            </a:pPr>
            <a:r>
              <a:rPr b="1" lang="en-US" sz="1200">
                <a:solidFill>
                  <a:schemeClr val="lt1"/>
                </a:solidFill>
              </a:rPr>
              <a:t>Convergencia lenta:</a:t>
            </a:r>
            <a:r>
              <a:rPr lang="en-US" sz="1200">
                <a:solidFill>
                  <a:schemeClr val="lt1"/>
                </a:solidFill>
              </a:rPr>
              <a:t> En algunos casos, ACO puede tener una convergencia lenta hacia soluciones óptimas, especialmente en problemas con espacios de búsqueda grandes o mal condicionados.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200"/>
              <a:buChar char=" "/>
            </a:pPr>
            <a:r>
              <a:rPr b="1" lang="en-US" sz="1200">
                <a:solidFill>
                  <a:schemeClr val="lt1"/>
                </a:solidFill>
              </a:rPr>
              <a:t>Dependencia de la heurística:</a:t>
            </a:r>
            <a:r>
              <a:rPr lang="en-US" sz="1200">
                <a:solidFill>
                  <a:schemeClr val="lt1"/>
                </a:solidFill>
              </a:rPr>
              <a:t> La eficacia de ACO puede depender de la heurística utilizada para guiar la exploración de las hormigas, y la elección de esta heurística puede no ser siempre obvia o fácil de determinar.</a:t>
            </a:r>
            <a:endParaRPr/>
          </a:p>
          <a:p>
            <a:pPr indent="-15239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8"/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2" name="Google Shape;432;p28"/>
          <p:cNvSpPr txBox="1"/>
          <p:nvPr>
            <p:ph type="title"/>
          </p:nvPr>
        </p:nvSpPr>
        <p:spPr>
          <a:xfrm>
            <a:off x="642257" y="634946"/>
            <a:ext cx="3690257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D5A4F"/>
              </a:buClr>
              <a:buSzPts val="4400"/>
              <a:buFont typeface="Garamond"/>
              <a:buNone/>
            </a:pPr>
            <a:r>
              <a:rPr lang="en-US" sz="4400">
                <a:solidFill>
                  <a:srgbClr val="7D5A4F"/>
                </a:solidFill>
              </a:rPr>
              <a:t>Desafíos y Limitaciones:</a:t>
            </a:r>
            <a:endParaRPr/>
          </a:p>
        </p:txBody>
      </p:sp>
      <p:cxnSp>
        <p:nvCxnSpPr>
          <p:cNvPr id="433" name="Google Shape;433;p28"/>
          <p:cNvCxnSpPr/>
          <p:nvPr/>
        </p:nvCxnSpPr>
        <p:spPr>
          <a:xfrm>
            <a:off x="720797" y="2250460"/>
            <a:ext cx="34747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28"/>
          <p:cNvSpPr txBox="1"/>
          <p:nvPr>
            <p:ph idx="1" type="body"/>
          </p:nvPr>
        </p:nvSpPr>
        <p:spPr>
          <a:xfrm>
            <a:off x="642248" y="2407425"/>
            <a:ext cx="42228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53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US" sz="1600" u="sng"/>
              <a:t>Eficiencia computacional</a:t>
            </a:r>
            <a:endParaRPr b="1" sz="1600" u="sng"/>
          </a:p>
          <a:p>
            <a:pPr indent="-253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US" sz="1600" u="sng"/>
              <a:t>Mejora de la convergencia</a:t>
            </a:r>
            <a:endParaRPr b="1" sz="1600" u="sng"/>
          </a:p>
          <a:p>
            <a:pPr indent="-253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US" sz="1600" u="sng"/>
              <a:t>Adaptación a problemas dinámicos</a:t>
            </a:r>
            <a:endParaRPr b="1" sz="1600" u="sng"/>
          </a:p>
          <a:p>
            <a:pPr indent="-253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US" sz="1600" u="sng"/>
              <a:t>Parametrización y heurísticas</a:t>
            </a:r>
            <a:endParaRPr b="1" sz="1600" u="sng"/>
          </a:p>
          <a:p>
            <a:pPr indent="-253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US" sz="1600" u="sng"/>
              <a:t>Robustez y generalización</a:t>
            </a:r>
            <a:endParaRPr b="1" sz="1600" u="sng"/>
          </a:p>
          <a:p>
            <a:pPr indent="-253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US" sz="1600" u="sng"/>
              <a:t>Exploración y explotación del espacio de búsqueda</a:t>
            </a:r>
            <a:endParaRPr b="1" sz="1600" u="sng"/>
          </a:p>
          <a:p>
            <a:pPr indent="-253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600" u="sng"/>
          </a:p>
        </p:txBody>
      </p:sp>
      <p:pic>
        <p:nvPicPr>
          <p:cNvPr descr="el hombre está trabajando en el escritorio con una computadora portátil.  freelance, educación en línea, navegación web o trabajador de oficina.  ilustración vectorial en estilo de dibujos animados 13651132 Vector en  Vecteezy" id="435" name="Google Shape;435;p28"/>
          <p:cNvPicPr preferRelativeResize="0"/>
          <p:nvPr/>
        </p:nvPicPr>
        <p:blipFill rotWithShape="1">
          <a:blip r:embed="rId3">
            <a:alphaModFix/>
          </a:blip>
          <a:srcRect b="2" l="0" r="3" t="3861"/>
          <a:stretch/>
        </p:blipFill>
        <p:spPr>
          <a:xfrm>
            <a:off x="4648201" y="640081"/>
            <a:ext cx="6909801" cy="531440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8"/>
          <p:cNvSpPr/>
          <p:nvPr/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42" name="Google Shape;442;p29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Las hormigas también usan el cierre perimetral para proteger a la colonia |  Ciencia | EL PAÍS" id="444" name="Google Shape;4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9"/>
          <p:cNvSpPr/>
          <p:nvPr/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dk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6" name="Google Shape;446;p29"/>
          <p:cNvSpPr txBox="1"/>
          <p:nvPr>
            <p:ph type="title"/>
          </p:nvPr>
        </p:nvSpPr>
        <p:spPr>
          <a:xfrm>
            <a:off x="735791" y="3331444"/>
            <a:ext cx="6470692" cy="12293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Garamond"/>
              <a:buNone/>
            </a:pPr>
            <a:r>
              <a:rPr lang="en-US" sz="3800">
                <a:solidFill>
                  <a:schemeClr val="lt1"/>
                </a:solidFill>
              </a:rPr>
              <a:t>Programa Colonia de Hormigas con Python:</a:t>
            </a:r>
            <a:endParaRPr/>
          </a:p>
        </p:txBody>
      </p:sp>
      <p:cxnSp>
        <p:nvCxnSpPr>
          <p:cNvPr id="447" name="Google Shape;447;p29"/>
          <p:cNvCxnSpPr/>
          <p:nvPr/>
        </p:nvCxnSpPr>
        <p:spPr>
          <a:xfrm>
            <a:off x="772429" y="4641183"/>
            <a:ext cx="6309360" cy="0"/>
          </a:xfrm>
          <a:prstGeom prst="straightConnector1">
            <a:avLst/>
          </a:prstGeom>
          <a:noFill/>
          <a:ln cap="flat" cmpd="sng" w="19050">
            <a:solidFill>
              <a:schemeClr val="accent1">
                <a:alpha val="89803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29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"/>
          <p:cNvSpPr/>
          <p:nvPr/>
        </p:nvSpPr>
        <p:spPr>
          <a:xfrm>
            <a:off x="5685" y="0"/>
            <a:ext cx="1218631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descr="Nueva herramienta para conocer la salud de los ecosistemas" id="454" name="Google Shape;454;p30"/>
          <p:cNvPicPr preferRelativeResize="0"/>
          <p:nvPr/>
        </p:nvPicPr>
        <p:blipFill rotWithShape="1">
          <a:blip r:embed="rId3">
            <a:alphaModFix/>
          </a:blip>
          <a:srcRect b="0" l="12562" r="30219" t="0"/>
          <a:stretch/>
        </p:blipFill>
        <p:spPr>
          <a:xfrm>
            <a:off x="2843" y="10"/>
            <a:ext cx="1218631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0"/>
          <p:cNvSpPr/>
          <p:nvPr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rgbClr val="000000">
              <a:alpha val="7882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6" name="Google Shape;456;p30"/>
          <p:cNvSpPr txBox="1"/>
          <p:nvPr>
            <p:ph type="title"/>
          </p:nvPr>
        </p:nvSpPr>
        <p:spPr>
          <a:xfrm>
            <a:off x="948648" y="1419273"/>
            <a:ext cx="3153580" cy="1358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</a:pPr>
            <a:r>
              <a:rPr lang="en-US" sz="3600">
                <a:solidFill>
                  <a:srgbClr val="FFFFFF"/>
                </a:solidFill>
              </a:rPr>
              <a:t>Bibliografias</a:t>
            </a:r>
            <a:endParaRPr/>
          </a:p>
        </p:txBody>
      </p:sp>
      <p:cxnSp>
        <p:nvCxnSpPr>
          <p:cNvPr id="457" name="Google Shape;457;p30"/>
          <p:cNvCxnSpPr/>
          <p:nvPr/>
        </p:nvCxnSpPr>
        <p:spPr>
          <a:xfrm>
            <a:off x="1038277" y="2865016"/>
            <a:ext cx="292608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p30"/>
          <p:cNvSpPr txBox="1"/>
          <p:nvPr>
            <p:ph idx="1" type="body"/>
          </p:nvPr>
        </p:nvSpPr>
        <p:spPr>
          <a:xfrm>
            <a:off x="948648" y="2978254"/>
            <a:ext cx="3153580" cy="2444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Char char=" "/>
            </a:pPr>
            <a:r>
              <a:rPr lang="en-US" sz="11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https://www.simbiotia.com/biomimesis/</a:t>
            </a:r>
            <a:r>
              <a:rPr lang="en-US" sz="11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1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100"/>
              <a:buChar char=" "/>
            </a:pPr>
            <a:r>
              <a:rPr lang="en-US" sz="11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https://www.gii.udc.es/presentacion</a:t>
            </a:r>
            <a:endParaRPr sz="11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100"/>
              <a:buChar char=" "/>
            </a:pPr>
            <a:r>
              <a:rPr lang="en-US" sz="11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https://es.wikipedia.org/wiki/Sistemas_bioinspirados</a:t>
            </a:r>
            <a:endParaRPr sz="11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100"/>
              <a:buChar char=" "/>
            </a:pPr>
            <a:r>
              <a:rPr lang="en-US" sz="11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https://www.youtube.com/watch?v=xauOQcvLW3c&amp;t=4s</a:t>
            </a:r>
            <a:endParaRPr sz="11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100"/>
              <a:buChar char=" "/>
            </a:pPr>
            <a:r>
              <a:rPr lang="en-US" sz="11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https://www.youtube.com/watch?v=knYGNpjXqLc&amp;t=344s</a:t>
            </a:r>
            <a:endParaRPr sz="11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89" lvl="0" marL="9144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459" name="Google Shape;459;p3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VTI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VTI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2023-11-26T20:33:37Z</dcterms:created>
  <dc:creator>Diego Garcia Ceron</dc:creator>
</cp:coreProperties>
</file>